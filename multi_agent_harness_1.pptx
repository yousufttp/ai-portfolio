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18259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-1371600"/>
            <a:ext cx="3657600" cy="36576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5029200"/>
            <a:ext cx="3200400" cy="3200400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8288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8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 HARNESS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10698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Incident Classification,</a:t>
            </a:r>
            <a:endParaRPr lang="en-US" sz="4800" dirty="0"/>
          </a:p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Triage &amp; Auto-Resolution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31520" y="42976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Flow &amp; Architecture Design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5943600"/>
            <a:ext cx="1097280" cy="365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60807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Proposal  |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High-Level 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Single-responsibility agents coordinated by a central harness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937760" y="1554480"/>
            <a:ext cx="2286000" cy="64008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5" name="Text 3"/>
          <p:cNvSpPr/>
          <p:nvPr/>
        </p:nvSpPr>
        <p:spPr>
          <a:xfrm>
            <a:off x="4937760" y="15544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 INPUT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080760" y="2194560"/>
            <a:ext cx="0" cy="365760"/>
          </a:xfrm>
          <a:prstGeom prst="line">
            <a:avLst/>
          </a:prstGeom>
          <a:noFill/>
          <a:ln w="25400">
            <a:solidFill>
              <a:srgbClr val="1E293B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914400" y="2651760"/>
            <a:ext cx="10332720" cy="109728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69748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 / ORCHESTRATOR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315468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 •  State Management  •  Retry &amp; Loop Detection  •  Observability  •  Human-in-the-Loop Gates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103120" y="3749040"/>
            <a:ext cx="0" cy="365760"/>
          </a:xfrm>
          <a:prstGeom prst="line">
            <a:avLst/>
          </a:prstGeom>
          <a:noFill/>
          <a:ln w="25400">
            <a:solidFill>
              <a:srgbClr val="1E293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663440" y="3749040"/>
            <a:ext cx="0" cy="365760"/>
          </a:xfrm>
          <a:prstGeom prst="line">
            <a:avLst/>
          </a:prstGeom>
          <a:noFill/>
          <a:ln w="25400">
            <a:solidFill>
              <a:srgbClr val="1E293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223760" y="3749040"/>
            <a:ext cx="0" cy="365760"/>
          </a:xfrm>
          <a:prstGeom prst="line">
            <a:avLst/>
          </a:prstGeom>
          <a:noFill/>
          <a:ln w="25400">
            <a:solidFill>
              <a:srgbClr val="1E293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9784080" y="3749040"/>
            <a:ext cx="0" cy="365760"/>
          </a:xfrm>
          <a:prstGeom prst="line">
            <a:avLst/>
          </a:prstGeom>
          <a:noFill/>
          <a:ln w="25400">
            <a:solidFill>
              <a:srgbClr val="1E293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1097280" y="4206240"/>
            <a:ext cx="2011680" cy="1280160"/>
          </a:xfrm>
          <a:prstGeom prst="rect">
            <a:avLst/>
          </a:prstGeom>
          <a:solidFill>
            <a:srgbClr val="FFFFFF"/>
          </a:solidFill>
          <a:ln w="38100">
            <a:solidFill>
              <a:srgbClr val="0891B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97280" y="4206240"/>
            <a:ext cx="2011680" cy="3657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42062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97280" y="461772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Categorize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incident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0" y="4206240"/>
            <a:ext cx="2011680" cy="1280160"/>
          </a:xfrm>
          <a:prstGeom prst="rect">
            <a:avLst/>
          </a:prstGeom>
          <a:solidFill>
            <a:srgbClr val="FFFFFF"/>
          </a:solidFill>
          <a:ln w="38100">
            <a:solidFill>
              <a:srgbClr val="7C3A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0" y="4206240"/>
            <a:ext cx="2011680" cy="3657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0" y="42062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TRIAGE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57600" y="461772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context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priority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17920" y="4206240"/>
            <a:ext cx="2011680" cy="1280160"/>
          </a:xfrm>
          <a:prstGeom prst="rect">
            <a:avLst/>
          </a:prstGeom>
          <a:solidFill>
            <a:srgbClr val="FFFFFF"/>
          </a:solidFill>
          <a:ln w="38100">
            <a:solidFill>
              <a:srgbClr val="05966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17920" y="4206240"/>
            <a:ext cx="2011680" cy="3657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4" name="Text 22"/>
          <p:cNvSpPr/>
          <p:nvPr/>
        </p:nvSpPr>
        <p:spPr>
          <a:xfrm>
            <a:off x="6217920" y="42062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217920" y="461772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fix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778240" y="4206240"/>
            <a:ext cx="2011680" cy="1280160"/>
          </a:xfrm>
          <a:prstGeom prst="rect">
            <a:avLst/>
          </a:prstGeom>
          <a:solidFill>
            <a:srgbClr val="FFFFFF"/>
          </a:solidFill>
          <a:ln w="38100">
            <a:solidFill>
              <a:srgbClr val="DC262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778240" y="4206240"/>
            <a:ext cx="2011680" cy="3657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8" name="Text 26"/>
          <p:cNvSpPr/>
          <p:nvPr/>
        </p:nvSpPr>
        <p:spPr>
          <a:xfrm>
            <a:off x="8778240" y="42062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 AGENT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778240" y="461772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the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080760" y="5532120"/>
            <a:ext cx="0" cy="320040"/>
          </a:xfrm>
          <a:prstGeom prst="line">
            <a:avLst/>
          </a:prstGeom>
          <a:noFill/>
          <a:ln w="25400">
            <a:solidFill>
              <a:srgbClr val="1E293B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4572000" y="5897880"/>
            <a:ext cx="3017520" cy="5943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0" y="589788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RESOLVED  /  ESCALATED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End-to-End Process Flow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points, retries, and escalation paths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554480" cy="640080"/>
          </a:xfrm>
          <a:prstGeom prst="roundRect">
            <a:avLst>
              <a:gd name="adj" fmla="val 11429"/>
            </a:avLst>
          </a:prstGeom>
          <a:solidFill>
            <a:srgbClr val="64748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258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011680" y="1600200"/>
            <a:ext cx="365760" cy="0"/>
          </a:xfrm>
          <a:prstGeom prst="line">
            <a:avLst/>
          </a:prstGeom>
          <a:noFill/>
          <a:ln w="25400">
            <a:solidFill>
              <a:srgbClr val="1E293B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423160" y="1280160"/>
            <a:ext cx="1737360" cy="640080"/>
          </a:xfrm>
          <a:prstGeom prst="roundRect">
            <a:avLst>
              <a:gd name="adj" fmla="val 11429"/>
            </a:avLst>
          </a:prstGeom>
          <a:solidFill>
            <a:srgbClr val="0891B2"/>
          </a:solidFill>
          <a:ln/>
        </p:spPr>
      </p:sp>
      <p:sp>
        <p:nvSpPr>
          <p:cNvPr id="9" name="Text 7"/>
          <p:cNvSpPr/>
          <p:nvPr/>
        </p:nvSpPr>
        <p:spPr>
          <a:xfrm>
            <a:off x="2423160" y="1325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423160" y="169164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categorize incident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160520" y="1600200"/>
            <a:ext cx="365760" cy="0"/>
          </a:xfrm>
          <a:prstGeom prst="line">
            <a:avLst/>
          </a:prstGeom>
          <a:noFill/>
          <a:ln w="25400">
            <a:solidFill>
              <a:srgbClr val="1E293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526280" y="1188720"/>
            <a:ext cx="155448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3175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26280" y="1188720"/>
            <a:ext cx="155448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threshold?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80760" y="1600200"/>
            <a:ext cx="36576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6035040" y="1280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446520" y="1280160"/>
            <a:ext cx="1737360" cy="640080"/>
          </a:xfrm>
          <a:prstGeom prst="roundRect">
            <a:avLst>
              <a:gd name="adj" fmla="val 11429"/>
            </a:avLst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6446520" y="1325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TRIAGE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46520" y="169164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+ priority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303520" y="2011680"/>
            <a:ext cx="0" cy="457200"/>
          </a:xfrm>
          <a:prstGeom prst="line">
            <a:avLst/>
          </a:prstGeom>
          <a:noFill/>
          <a:ln w="25400">
            <a:solidFill>
              <a:srgbClr val="B91C1C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5349240" y="20574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26280" y="2514600"/>
            <a:ext cx="1554480" cy="502920"/>
          </a:xfrm>
          <a:prstGeom prst="roundRect">
            <a:avLst>
              <a:gd name="adj" fmla="val 14545"/>
            </a:avLst>
          </a:prstGeom>
          <a:solidFill>
            <a:srgbClr val="B91C1C"/>
          </a:solidFill>
          <a:ln/>
        </p:spPr>
      </p:sp>
      <p:sp>
        <p:nvSpPr>
          <p:cNvPr id="22" name="Text 20"/>
          <p:cNvSpPr/>
          <p:nvPr/>
        </p:nvSpPr>
        <p:spPr>
          <a:xfrm>
            <a:off x="4526280" y="25603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QUEUE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315200" y="1920240"/>
            <a:ext cx="0" cy="365760"/>
          </a:xfrm>
          <a:prstGeom prst="line">
            <a:avLst/>
          </a:prstGeom>
          <a:noFill/>
          <a:ln w="25400">
            <a:solidFill>
              <a:srgbClr val="1E293B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446520" y="2331720"/>
            <a:ext cx="1737360" cy="594360"/>
          </a:xfrm>
          <a:prstGeom prst="roundRect">
            <a:avLst>
              <a:gd name="adj" fmla="val 12308"/>
            </a:avLst>
          </a:prstGeom>
          <a:solidFill>
            <a:srgbClr val="21295C"/>
          </a:solidFill>
          <a:ln/>
        </p:spPr>
      </p:sp>
      <p:sp>
        <p:nvSpPr>
          <p:cNvPr id="25" name="Text 23"/>
          <p:cNvSpPr/>
          <p:nvPr/>
        </p:nvSpPr>
        <p:spPr>
          <a:xfrm>
            <a:off x="6446520" y="23774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TO SPECIALIST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46520" y="2743200"/>
            <a:ext cx="1737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category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315200" y="2926080"/>
            <a:ext cx="0" cy="274320"/>
          </a:xfrm>
          <a:prstGeom prst="line">
            <a:avLst/>
          </a:prstGeom>
          <a:noFill/>
          <a:ln w="25400">
            <a:solidFill>
              <a:srgbClr val="1E293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0" y="3200400"/>
            <a:ext cx="3657600" cy="0"/>
          </a:xfrm>
          <a:prstGeom prst="line">
            <a:avLst/>
          </a:prstGeom>
          <a:noFill/>
          <a:ln w="25400">
            <a:solidFill>
              <a:srgbClr val="1E293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0" y="3200400"/>
            <a:ext cx="0" cy="274320"/>
          </a:xfrm>
          <a:prstGeom prst="line">
            <a:avLst/>
          </a:prstGeom>
          <a:noFill/>
          <a:ln w="25400">
            <a:solidFill>
              <a:srgbClr val="1E293B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315200" y="3200400"/>
            <a:ext cx="0" cy="274320"/>
          </a:xfrm>
          <a:prstGeom prst="line">
            <a:avLst/>
          </a:prstGeom>
          <a:noFill/>
          <a:ln w="25400">
            <a:solidFill>
              <a:srgbClr val="1E293B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9144000" y="3200400"/>
            <a:ext cx="0" cy="274320"/>
          </a:xfrm>
          <a:prstGeom prst="line">
            <a:avLst/>
          </a:prstGeom>
          <a:noFill/>
          <a:ln w="25400">
            <a:solidFill>
              <a:srgbClr val="1E293B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4754880" y="3520440"/>
            <a:ext cx="1508760" cy="502920"/>
          </a:xfrm>
          <a:prstGeom prst="roundRect">
            <a:avLst>
              <a:gd name="adj" fmla="val 14545"/>
            </a:avLst>
          </a:prstGeom>
          <a:solidFill>
            <a:srgbClr val="059669"/>
          </a:solidFill>
          <a:ln/>
        </p:spPr>
      </p:sp>
      <p:sp>
        <p:nvSpPr>
          <p:cNvPr id="33" name="Text 31"/>
          <p:cNvSpPr/>
          <p:nvPr/>
        </p:nvSpPr>
        <p:spPr>
          <a:xfrm>
            <a:off x="4754880" y="356616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583680" y="3520440"/>
            <a:ext cx="1508760" cy="502920"/>
          </a:xfrm>
          <a:prstGeom prst="roundRect">
            <a:avLst>
              <a:gd name="adj" fmla="val 14545"/>
            </a:avLst>
          </a:prstGeom>
          <a:solidFill>
            <a:srgbClr val="059669"/>
          </a:solidFill>
          <a:ln/>
        </p:spPr>
      </p:sp>
      <p:sp>
        <p:nvSpPr>
          <p:cNvPr id="35" name="Text 33"/>
          <p:cNvSpPr/>
          <p:nvPr/>
        </p:nvSpPr>
        <p:spPr>
          <a:xfrm>
            <a:off x="6583680" y="356616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412480" y="3520440"/>
            <a:ext cx="1508760" cy="502920"/>
          </a:xfrm>
          <a:prstGeom prst="roundRect">
            <a:avLst>
              <a:gd name="adj" fmla="val 14545"/>
            </a:avLst>
          </a:prstGeom>
          <a:solidFill>
            <a:srgbClr val="059669"/>
          </a:solidFill>
          <a:ln/>
        </p:spPr>
      </p:sp>
      <p:sp>
        <p:nvSpPr>
          <p:cNvPr id="37" name="Text 35"/>
          <p:cNvSpPr/>
          <p:nvPr/>
        </p:nvSpPr>
        <p:spPr>
          <a:xfrm>
            <a:off x="8412480" y="356616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/ AUTH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486400" y="4023360"/>
            <a:ext cx="0" cy="182880"/>
          </a:xfrm>
          <a:prstGeom prst="line">
            <a:avLst/>
          </a:prstGeom>
          <a:noFill/>
          <a:ln w="25400">
            <a:solidFill>
              <a:srgbClr val="1E293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315200" y="4023360"/>
            <a:ext cx="0" cy="182880"/>
          </a:xfrm>
          <a:prstGeom prst="line">
            <a:avLst/>
          </a:prstGeom>
          <a:noFill/>
          <a:ln w="25400">
            <a:solidFill>
              <a:srgbClr val="1E293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144000" y="4023360"/>
            <a:ext cx="0" cy="182880"/>
          </a:xfrm>
          <a:prstGeom prst="line">
            <a:avLst/>
          </a:prstGeom>
          <a:noFill/>
          <a:ln w="25400">
            <a:solidFill>
              <a:srgbClr val="1E293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486400" y="4206240"/>
            <a:ext cx="3657600" cy="0"/>
          </a:xfrm>
          <a:prstGeom prst="line">
            <a:avLst/>
          </a:prstGeom>
          <a:noFill/>
          <a:ln w="25400">
            <a:solidFill>
              <a:srgbClr val="1E293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315200" y="4206240"/>
            <a:ext cx="0" cy="274320"/>
          </a:xfrm>
          <a:prstGeom prst="line">
            <a:avLst/>
          </a:prstGeom>
          <a:noFill/>
          <a:ln w="25400">
            <a:solidFill>
              <a:srgbClr val="1E293B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6446520" y="4526280"/>
            <a:ext cx="1737360" cy="594360"/>
          </a:xfrm>
          <a:prstGeom prst="roundRect">
            <a:avLst>
              <a:gd name="adj" fmla="val 12308"/>
            </a:avLst>
          </a:prstGeom>
          <a:solidFill>
            <a:srgbClr val="059669"/>
          </a:solidFill>
          <a:ln/>
        </p:spPr>
      </p:sp>
      <p:sp>
        <p:nvSpPr>
          <p:cNvPr id="44" name="Text 42"/>
          <p:cNvSpPr/>
          <p:nvPr/>
        </p:nvSpPr>
        <p:spPr>
          <a:xfrm>
            <a:off x="6446520" y="45720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RESOLVER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446520" y="4937760"/>
            <a:ext cx="1737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+ fix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7315200" y="5120640"/>
            <a:ext cx="0" cy="320040"/>
          </a:xfrm>
          <a:prstGeom prst="line">
            <a:avLst/>
          </a:prstGeom>
          <a:noFill/>
          <a:ln w="25400">
            <a:solidFill>
              <a:srgbClr val="1E293B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6446520" y="5440680"/>
            <a:ext cx="1737360" cy="594360"/>
          </a:xfrm>
          <a:prstGeom prst="roundRect">
            <a:avLst>
              <a:gd name="adj" fmla="val 12308"/>
            </a:avLst>
          </a:prstGeom>
          <a:solidFill>
            <a:srgbClr val="DC2626"/>
          </a:solidFill>
          <a:ln/>
        </p:spPr>
      </p:sp>
      <p:sp>
        <p:nvSpPr>
          <p:cNvPr id="48" name="Text 46"/>
          <p:cNvSpPr/>
          <p:nvPr/>
        </p:nvSpPr>
        <p:spPr>
          <a:xfrm>
            <a:off x="6446520" y="54864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 AGENT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6446520" y="5852160"/>
            <a:ext cx="1737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fix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7315200" y="6035040"/>
            <a:ext cx="0" cy="228600"/>
          </a:xfrm>
          <a:prstGeom prst="line">
            <a:avLst/>
          </a:prstGeom>
          <a:noFill/>
          <a:ln w="25400">
            <a:solidFill>
              <a:srgbClr val="1E293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537960" y="6263640"/>
            <a:ext cx="15544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31750">
            <a:solidFill>
              <a:srgbClr val="D9770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537960" y="6263640"/>
            <a:ext cx="155448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 pass?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8092440" y="6510528"/>
            <a:ext cx="50292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54" name="Text 52"/>
          <p:cNvSpPr/>
          <p:nvPr/>
        </p:nvSpPr>
        <p:spPr>
          <a:xfrm>
            <a:off x="8092440" y="60807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8641080" y="6263640"/>
            <a:ext cx="1463040" cy="502920"/>
          </a:xfrm>
          <a:prstGeom prst="roundRect">
            <a:avLst>
              <a:gd name="adj" fmla="val 14545"/>
            </a:avLst>
          </a:prstGeom>
          <a:solidFill>
            <a:srgbClr val="0D9488"/>
          </a:solidFill>
          <a:ln/>
        </p:spPr>
      </p:sp>
      <p:sp>
        <p:nvSpPr>
          <p:cNvPr id="56" name="Text 54"/>
          <p:cNvSpPr/>
          <p:nvPr/>
        </p:nvSpPr>
        <p:spPr>
          <a:xfrm>
            <a:off x="8641080" y="63093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RESOLVED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6537960" y="6510528"/>
            <a:ext cx="0" cy="0"/>
          </a:xfrm>
          <a:prstGeom prst="line">
            <a:avLst/>
          </a:prstGeom>
          <a:noFill/>
          <a:ln w="25400">
            <a:solidFill>
              <a:srgbClr val="B91C1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126480" y="60807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6035040" y="4828032"/>
            <a:ext cx="0" cy="1682496"/>
          </a:xfrm>
          <a:prstGeom prst="line">
            <a:avLst/>
          </a:prstGeom>
          <a:noFill/>
          <a:ln w="25400">
            <a:solidFill>
              <a:srgbClr val="B91C1C"/>
            </a:solidFill>
            <a:prstDash val="dash"/>
          </a:ln>
        </p:spPr>
      </p:sp>
      <p:sp>
        <p:nvSpPr>
          <p:cNvPr id="60" name="Shape 58"/>
          <p:cNvSpPr/>
          <p:nvPr/>
        </p:nvSpPr>
        <p:spPr>
          <a:xfrm>
            <a:off x="6035040" y="4828032"/>
            <a:ext cx="365760" cy="0"/>
          </a:xfrm>
          <a:prstGeom prst="line">
            <a:avLst/>
          </a:prstGeom>
          <a:noFill/>
          <a:ln w="25400">
            <a:solidFill>
              <a:srgbClr val="B91C1C"/>
            </a:solidFill>
            <a:prstDash val="solid"/>
            <a:tailEnd type="triangle"/>
          </a:ln>
        </p:spPr>
      </p:sp>
      <p:sp>
        <p:nvSpPr>
          <p:cNvPr id="61" name="Text 59"/>
          <p:cNvSpPr/>
          <p:nvPr/>
        </p:nvSpPr>
        <p:spPr>
          <a:xfrm>
            <a:off x="4937760" y="54864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with feedback</a:t>
            </a:r>
            <a:endParaRPr lang="en-US" sz="800" dirty="0"/>
          </a:p>
          <a:p>
            <a:pPr marL="0" indent="0" algn="r">
              <a:buNone/>
            </a:pPr>
            <a:r>
              <a:rPr lang="en-US" sz="800" i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(max 2 attempts)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457200" y="3657600"/>
            <a:ext cx="3840480" cy="3108960"/>
          </a:xfrm>
          <a:prstGeom prst="rect">
            <a:avLst/>
          </a:prstGeom>
          <a:solidFill>
            <a:srgbClr val="E8F1F5"/>
          </a:solidFill>
          <a:ln/>
        </p:spPr>
      </p:sp>
      <p:sp>
        <p:nvSpPr>
          <p:cNvPr id="63" name="Text 61"/>
          <p:cNvSpPr/>
          <p:nvPr/>
        </p:nvSpPr>
        <p:spPr>
          <a:xfrm>
            <a:off x="640080" y="37947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LEGEND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640080" y="4206240"/>
            <a:ext cx="228600" cy="2286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5" name="Text 63"/>
          <p:cNvSpPr/>
          <p:nvPr/>
        </p:nvSpPr>
        <p:spPr>
          <a:xfrm>
            <a:off x="960120" y="4187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 — categorizes incident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640080" y="4590288"/>
            <a:ext cx="228600" cy="2286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7" name="Text 65"/>
          <p:cNvSpPr/>
          <p:nvPr/>
        </p:nvSpPr>
        <p:spPr>
          <a:xfrm>
            <a:off x="960120" y="4572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— context + priority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640080" y="4974336"/>
            <a:ext cx="228600" cy="2286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69" name="Text 67"/>
          <p:cNvSpPr/>
          <p:nvPr/>
        </p:nvSpPr>
        <p:spPr>
          <a:xfrm>
            <a:off x="960120" y="49560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Resolver — diagnoses + fixes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640080" y="5358384"/>
            <a:ext cx="228600" cy="2286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71" name="Text 69"/>
          <p:cNvSpPr/>
          <p:nvPr/>
        </p:nvSpPr>
        <p:spPr>
          <a:xfrm>
            <a:off x="960120" y="534009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— validates resolution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640080" y="5742432"/>
            <a:ext cx="228600" cy="2286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3" name="Text 71"/>
          <p:cNvSpPr/>
          <p:nvPr/>
        </p:nvSpPr>
        <p:spPr>
          <a:xfrm>
            <a:off x="960120" y="572414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path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640080" y="6126480"/>
            <a:ext cx="228600" cy="22860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75" name="Text 73"/>
          <p:cNvSpPr/>
          <p:nvPr/>
        </p:nvSpPr>
        <p:spPr>
          <a:xfrm>
            <a:off x="960120" y="61081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/ escalation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Design Principles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non-negotiables for a production-grade harness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661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463040"/>
            <a:ext cx="91440" cy="21945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459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822960" y="22402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Responsibility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69748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does ONE job well. Narrow scope reduces hallucination and improves accuracy.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43400" y="1463040"/>
            <a:ext cx="35661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43400" y="1463040"/>
            <a:ext cx="91440" cy="21945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16459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617720" y="22402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Hand-offs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17720" y="269748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communicate via strict JSON contracts — never free-form text. Predictable inputs and outputs.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38160" y="1463040"/>
            <a:ext cx="35661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38160" y="1463040"/>
            <a:ext cx="91440" cy="21945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0" y="16459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8412480" y="22402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Router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12480" y="269748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 owns routing decisions. Agents don't call each other directly — prevents tight coupling.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931920"/>
            <a:ext cx="35661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" y="3931920"/>
            <a:ext cx="91440" cy="21945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1148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822960" y="47091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 First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22960" y="516636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logs input, output, tools used, latency, and confidence. Required for debugging.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43400" y="3931920"/>
            <a:ext cx="35661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343400" y="3931920"/>
            <a:ext cx="91440" cy="21945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6" name="Text 24"/>
          <p:cNvSpPr/>
          <p:nvPr/>
        </p:nvSpPr>
        <p:spPr>
          <a:xfrm>
            <a:off x="4617720" y="41148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3600" dirty="0"/>
          </a:p>
        </p:txBody>
      </p:sp>
      <p:sp>
        <p:nvSpPr>
          <p:cNvPr id="27" name="Text 25"/>
          <p:cNvSpPr/>
          <p:nvPr/>
        </p:nvSpPr>
        <p:spPr>
          <a:xfrm>
            <a:off x="4617720" y="47091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Human-in-the-Loop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617720" y="516636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confidence or high severity (P1) pauses automation and routes to a human reviewer.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138160" y="3931920"/>
            <a:ext cx="3566160" cy="219456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0" name="Text 28"/>
          <p:cNvSpPr/>
          <p:nvPr/>
        </p:nvSpPr>
        <p:spPr>
          <a:xfrm>
            <a:off x="8412480" y="42976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PRINCIPLE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412480" y="47091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"Match the model to the job."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412480" y="530352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 fast model for the Classifier. Powerful model for the Resolver. Different model family for QA.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Selection Per Agent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Right-size the model based on task complexity and stakes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265176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60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 TIER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RELATIVE COST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891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Classifier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/ Fast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volume, low complexity. Speed matters more than depth.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0D94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7C3AE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Triage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reasoning to gather context and assign priority.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D9770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$$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596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Resolver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 / Powerful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stakes — wrong action breaks production. Worth premium.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B9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$$$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DC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QA Agent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 / Different family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Cross-model verification catches blind spots same model would miss.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D9770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$$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846320"/>
            <a:ext cx="11064240" cy="1737360"/>
          </a:xfrm>
          <a:prstGeom prst="rect">
            <a:avLst/>
          </a:prstGeom>
          <a:solidFill>
            <a:srgbClr val="E8F1F5"/>
          </a:solidFill>
          <a:ln/>
        </p:spPr>
      </p:sp>
      <p:sp>
        <p:nvSpPr>
          <p:cNvPr id="4" name="Shape 3"/>
          <p:cNvSpPr/>
          <p:nvPr/>
        </p:nvSpPr>
        <p:spPr>
          <a:xfrm>
            <a:off x="548640" y="4846320"/>
            <a:ext cx="109728" cy="17373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4"/>
          <p:cNvSpPr/>
          <p:nvPr/>
        </p:nvSpPr>
        <p:spPr>
          <a:xfrm>
            <a:off x="868680" y="49834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BUSINESS CASE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68680" y="53035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Right-sizing models cuts agent costs by 50–70%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68680" y="58064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powerful model on every step pays Ferrari prices for grocery runs. Match capability to need — and use a different model family for the QA agent so it doesn't share the Resolver's blind spots.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Metrics That Matter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across four dimensions — accuracy, cost, speed, human effort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697480" cy="5486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6304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26974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148840"/>
            <a:ext cx="24231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accuracy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success rate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pass rate (first attempt)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routing rate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29000" y="1463040"/>
            <a:ext cx="2697480" cy="5486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9" name="Text 7"/>
          <p:cNvSpPr/>
          <p:nvPr/>
        </p:nvSpPr>
        <p:spPr>
          <a:xfrm>
            <a:off x="3429000" y="146304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429000" y="2011680"/>
            <a:ext cx="26974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11880" y="2148840"/>
            <a:ext cx="24231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per incident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Dollar cost per incident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rate (waste signal)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Per-agent cost split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309360" y="1463040"/>
            <a:ext cx="2697480" cy="5486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0" y="146304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309360" y="2011680"/>
            <a:ext cx="26974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2148840"/>
            <a:ext cx="24231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resolution (TTR)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Per-agent latency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per incident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wait time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189720" y="1463040"/>
            <a:ext cx="2697480" cy="5486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7" name="Text 15"/>
          <p:cNvSpPr/>
          <p:nvPr/>
        </p:nvSpPr>
        <p:spPr>
          <a:xfrm>
            <a:off x="9189720" y="146304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EFFORT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189720" y="2011680"/>
            <a:ext cx="26974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72600" y="2148840"/>
            <a:ext cx="24231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Auto-resolution rate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rate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override rate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rework rate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434840"/>
            <a:ext cx="11064240" cy="21488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46177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STAR METRIC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400" y="5029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Auto-Resolution Rate with QA Pass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914400" y="57150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number that tells us if the system works: % of incidents handled correctly, end-to-end, with zero human intervention. If this is 70%, we've replaced 70% of L1 work — that is the business case for this initiative.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Safeguards &amp; Reliability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Two-layer protection plus three budgets to prevent runaway behavior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86400" cy="2103120"/>
          </a:xfrm>
          <a:prstGeom prst="rect">
            <a:avLst/>
          </a:prstGeom>
          <a:solidFill>
            <a:srgbClr val="FFFFFF"/>
          </a:solidFill>
          <a:ln w="25400">
            <a:solidFill>
              <a:srgbClr val="0891B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54480"/>
            <a:ext cx="5486400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55448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GUARDS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1945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Per-Agent Retry Limits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56032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has a max retry count (e.g., 3). After that, escalate. Protects against a single agent banging its head against the wall.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26480" y="1554480"/>
            <a:ext cx="5486400" cy="2103120"/>
          </a:xfrm>
          <a:prstGeom prst="rect">
            <a:avLst/>
          </a:prstGeom>
          <a:solidFill>
            <a:srgbClr val="FFFFFF"/>
          </a:solidFill>
          <a:ln w="25400">
            <a:solidFill>
              <a:srgbClr val="DC262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26480" y="1554480"/>
            <a:ext cx="5486400" cy="5029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0" y="155448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GUARDS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55080" y="21945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System-Level Loop Detection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355080" y="256032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 tracks the execution path across all agents. Detects A→B→A→B cycles even when no single agent has hit its retry limit.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39319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BUDGETS PER INCIDENT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434840"/>
            <a:ext cx="35661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4434840"/>
            <a:ext cx="3566160" cy="731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663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BUDGET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50292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≤ 10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822960" y="57607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agent hops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343400" y="4434840"/>
            <a:ext cx="35661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343400" y="4434840"/>
            <a:ext cx="3566160" cy="731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2" name="Text 20"/>
          <p:cNvSpPr/>
          <p:nvPr/>
        </p:nvSpPr>
        <p:spPr>
          <a:xfrm>
            <a:off x="4617720" y="4663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BUDGET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617720" y="50292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≤ 50K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4617720" y="57607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LLM tokens spent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138160" y="4434840"/>
            <a:ext cx="35661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138160" y="4434840"/>
            <a:ext cx="3566160" cy="7315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7" name="Text 25"/>
          <p:cNvSpPr/>
          <p:nvPr/>
        </p:nvSpPr>
        <p:spPr>
          <a:xfrm>
            <a:off x="8412480" y="4663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BUDGET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412480" y="50292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≤ 5 min</a:t>
            </a:r>
            <a:endParaRPr lang="en-US" sz="3600" dirty="0"/>
          </a:p>
        </p:txBody>
      </p:sp>
      <p:sp>
        <p:nvSpPr>
          <p:cNvPr id="29" name="Text 27"/>
          <p:cNvSpPr/>
          <p:nvPr/>
        </p:nvSpPr>
        <p:spPr>
          <a:xfrm>
            <a:off x="8412480" y="57607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Wall-clock to resolution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5029200"/>
            <a:ext cx="3200400" cy="3200400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7315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8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 &amp; NEXT STEPS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2801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 Decisions for the Team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731520" y="25603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560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63040" y="256032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classification taxonomy — what categories exist and how granular?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246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63040" y="324612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confidence threshold — at what score do we escalate to a human?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39319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63040" y="393192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state management strategy — shared store vs. payload passing?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46177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617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63040" y="461772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model providers — single-vendor for v1, or cross-vendor for QA?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31520" y="53035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5303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463040" y="530352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QA pass criteria — what makes a resolution "good enough"?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31520" y="6400800"/>
            <a:ext cx="1097280" cy="36576"/>
          </a:xfrm>
          <a:prstGeom prst="rect">
            <a:avLst/>
          </a:prstGeom>
          <a:solidFill>
            <a:srgbClr val="1C7293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741</Words>
  <Application>Microsoft Office PowerPoint</Application>
  <PresentationFormat>Widescreen</PresentationFormat>
  <Paragraphs>166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Multi-Agent Harness Architecture</dc:title>
  <dc:subject>PptxGenJS Presentation</dc:subject>
  <dc:creator>Yousuf</dc:creator>
  <cp:lastModifiedBy>Yousuf U</cp:lastModifiedBy>
  <cp:revision>2</cp:revision>
  <dcterms:created xsi:type="dcterms:W3CDTF">2026-04-28T22:00:36Z</dcterms:created>
  <dcterms:modified xsi:type="dcterms:W3CDTF">2026-04-28T23:40:51Z</dcterms:modified>
</cp:coreProperties>
</file>